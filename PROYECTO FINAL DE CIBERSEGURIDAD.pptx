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8F2C47-D75D-40F8-B8BA-413799F37718}">
  <a:tblStyle styleId="{7C8F2C47-D75D-40F8-B8BA-413799F377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907ed39a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907ed39a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07ed39a0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907ed39a0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907ed39a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907ed39a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907ed39a0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907ed39a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907ed39a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907ed39a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07ed39a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907ed39a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907ed39a0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907ed39a0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907ed39a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907ed39a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907ed39a0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907ed39a0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907ed39a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907ed39a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588258" y="-1989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/>
              <a:t>PROYECTO FINAL DE CIBERSEGURIDAD</a:t>
            </a:r>
            <a:endParaRPr sz="33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44150" y="1657556"/>
            <a:ext cx="6921900" cy="22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</a:rPr>
              <a:t>Alumno: Juan Alexis Hoyos Medina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</a:rPr>
              <a:t>Curso: 4geeks Academy ciberseguridad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chemeClr val="dk1"/>
                </a:solidFill>
              </a:rPr>
              <a:t>Fecha:18/02/2026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700" y="3400413"/>
            <a:ext cx="50673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¿Que vamos a ver?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76525" y="1166325"/>
            <a:ext cx="4495500" cy="37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s" sz="2300">
                <a:solidFill>
                  <a:schemeClr val="dk1"/>
                </a:solidFill>
              </a:rPr>
              <a:t>Fase 1 - </a:t>
            </a:r>
            <a:r>
              <a:rPr lang="es" sz="2300">
                <a:solidFill>
                  <a:schemeClr val="dk1"/>
                </a:solidFill>
              </a:rPr>
              <a:t>Análisis</a:t>
            </a:r>
            <a:r>
              <a:rPr lang="es" sz="2300">
                <a:solidFill>
                  <a:schemeClr val="dk1"/>
                </a:solidFill>
              </a:rPr>
              <a:t> Forense</a:t>
            </a:r>
            <a:endParaRPr sz="23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Evidencias encontradas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Línea de tiempo del incidente</a:t>
            </a:r>
            <a:endParaRPr sz="19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s" sz="2300">
                <a:solidFill>
                  <a:schemeClr val="dk1"/>
                </a:solidFill>
              </a:rPr>
              <a:t>Fase 2 - Correcciones y Hardening</a:t>
            </a:r>
            <a:endParaRPr sz="23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Vulnerabilidades detectadas</a:t>
            </a:r>
            <a:endParaRPr sz="1900">
              <a:solidFill>
                <a:schemeClr val="dk1"/>
              </a:solidFill>
            </a:endParaRPr>
          </a:p>
          <a:p>
            <a:pPr indent="-3492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Medidas aplicadas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383750" y="1166325"/>
            <a:ext cx="4760100" cy="3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3. Fase 3 - Plan de Respuesta y SGSI</a:t>
            </a:r>
            <a:endParaRPr sz="2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3.1. NIST SP 800-61I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3.2. ISO 27001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4. Resultados y conclusiones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173675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incidente 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24225" y="572700"/>
            <a:ext cx="90153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¿Que pasó el 8 de octubre?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2"/>
                </a:solidFill>
              </a:rPr>
              <a:t>El usuario </a:t>
            </a:r>
            <a:r>
              <a:rPr b="1" lang="es" sz="1800">
                <a:solidFill>
                  <a:schemeClr val="lt2"/>
                </a:solidFill>
              </a:rPr>
              <a:t>Debian </a:t>
            </a:r>
            <a:r>
              <a:rPr lang="es" sz="1800">
                <a:solidFill>
                  <a:schemeClr val="lt2"/>
                </a:solidFill>
              </a:rPr>
              <a:t>realizó </a:t>
            </a:r>
            <a:r>
              <a:rPr lang="es" sz="1800">
                <a:solidFill>
                  <a:schemeClr val="lt2"/>
                </a:solidFill>
              </a:rPr>
              <a:t>acciones que </a:t>
            </a:r>
            <a:r>
              <a:rPr lang="es" sz="1800">
                <a:solidFill>
                  <a:schemeClr val="lt2"/>
                </a:solidFill>
              </a:rPr>
              <a:t>comprometen</a:t>
            </a:r>
            <a:r>
              <a:rPr lang="es" sz="1800">
                <a:solidFill>
                  <a:schemeClr val="lt2"/>
                </a:solidFill>
              </a:rPr>
              <a:t> la seguridad dels servidor: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0993"/>
            <a:ext cx="9144001" cy="308345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-44975" y="4256100"/>
            <a:ext cx="81063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Oct 08 16:12:55 nano /etc/ssh/sshd_config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Oct 08 16:17:59 chmod -R 777 /var/www/html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</a:rPr>
              <a:t>Oct 08 16:20:04 chmod 777 /var/www/html/wp-config.php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00" y="2858350"/>
            <a:ext cx="61150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875" y="1517975"/>
            <a:ext cx="21145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20450" y="720525"/>
            <a:ext cx="76293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usuario debian </a:t>
            </a:r>
            <a:r>
              <a:rPr lang="es" sz="1800">
                <a:solidFill>
                  <a:schemeClr val="dk1"/>
                </a:solidFill>
              </a:rPr>
              <a:t>permitió</a:t>
            </a:r>
            <a:r>
              <a:rPr lang="es" sz="1800">
                <a:solidFill>
                  <a:schemeClr val="dk1"/>
                </a:solidFill>
              </a:rPr>
              <a:t> que se pudiera logear con root mediante ssh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4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Evidencias atacante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420450" y="2060075"/>
            <a:ext cx="78507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Un usuario desconocido, se </a:t>
            </a:r>
            <a:r>
              <a:rPr lang="es" sz="1800">
                <a:solidFill>
                  <a:schemeClr val="dk1"/>
                </a:solidFill>
              </a:rPr>
              <a:t>conectó</a:t>
            </a:r>
            <a:r>
              <a:rPr lang="es" sz="1800">
                <a:solidFill>
                  <a:schemeClr val="dk1"/>
                </a:solidFill>
              </a:rPr>
              <a:t> con root mediante ssh 1 hora </a:t>
            </a:r>
            <a:r>
              <a:rPr lang="es" sz="1800">
                <a:solidFill>
                  <a:schemeClr val="dk1"/>
                </a:solidFill>
              </a:rPr>
              <a:t>después</a:t>
            </a:r>
            <a:r>
              <a:rPr lang="es" sz="1800">
                <a:solidFill>
                  <a:schemeClr val="dk1"/>
                </a:solidFill>
              </a:rPr>
              <a:t> de que se configurara el sshd_config.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75650" y="3508250"/>
            <a:ext cx="80364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Posible </a:t>
            </a:r>
            <a:r>
              <a:rPr lang="es" sz="1800">
                <a:solidFill>
                  <a:schemeClr val="dk1"/>
                </a:solidFill>
              </a:rPr>
              <a:t>método</a:t>
            </a:r>
            <a:r>
              <a:rPr lang="es" sz="1800">
                <a:solidFill>
                  <a:schemeClr val="dk1"/>
                </a:solidFill>
              </a:rPr>
              <a:t> de entrada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atacante puso usar Fuerza Bruta (Hydra + rockyou.txt) para obtener credenciales </a:t>
            </a:r>
            <a:r>
              <a:rPr lang="es" sz="1800">
                <a:solidFill>
                  <a:schemeClr val="dk1"/>
                </a:solidFill>
              </a:rPr>
              <a:t>débiles</a:t>
            </a:r>
            <a:r>
              <a:rPr lang="e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75650" y="1152200"/>
            <a:ext cx="4453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Configuración</a:t>
            </a:r>
            <a:r>
              <a:rPr lang="es" sz="1800">
                <a:solidFill>
                  <a:schemeClr val="dk1"/>
                </a:solidFill>
              </a:rPr>
              <a:t> modificada (SSH)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Vulnerabilidades Encontradas</a:t>
            </a:r>
            <a:endParaRPr/>
          </a:p>
        </p:txBody>
      </p:sp>
      <p:graphicFrame>
        <p:nvGraphicFramePr>
          <p:cNvPr id="88" name="Google Shape;88;p17"/>
          <p:cNvGraphicFramePr/>
          <p:nvPr/>
        </p:nvGraphicFramePr>
        <p:xfrm>
          <a:off x="426825" y="132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{7C8F2C47-D75D-40F8-B8BA-413799F37718}</a:tableStyleId>
              </a:tblPr>
              <a:tblGrid>
                <a:gridCol w="2224825"/>
                <a:gridCol w="3302075"/>
                <a:gridCol w="2763450"/>
              </a:tblGrid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Servicio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Problema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Riesgo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FTP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Acceso </a:t>
                      </a:r>
                      <a:r>
                        <a:rPr lang="es">
                          <a:solidFill>
                            <a:srgbClr val="D9D9D9"/>
                          </a:solidFill>
                        </a:rPr>
                        <a:t>anónimo</a:t>
                      </a:r>
                      <a:r>
                        <a:rPr lang="es">
                          <a:solidFill>
                            <a:srgbClr val="D9D9D9"/>
                          </a:solidFill>
                        </a:rPr>
                        <a:t> habilitado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Exfiltración</a:t>
                      </a:r>
                      <a:r>
                        <a:rPr lang="es">
                          <a:solidFill>
                            <a:srgbClr val="D9D9D9"/>
                          </a:solidFill>
                        </a:rPr>
                        <a:t> de datos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SSH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Root login permitido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Acceso total al sistema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WordPress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wp-config.php con permisos 777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Credenciales expuestas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Permisos web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Directorio /var/www/html con 777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Modificación</a:t>
                      </a:r>
                      <a:r>
                        <a:rPr lang="es">
                          <a:solidFill>
                            <a:srgbClr val="D9D9D9"/>
                          </a:solidFill>
                        </a:rPr>
                        <a:t> de archivos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Firewall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No configurado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Libre </a:t>
                      </a:r>
                      <a:r>
                        <a:rPr lang="es">
                          <a:solidFill>
                            <a:srgbClr val="D9D9D9"/>
                          </a:solidFill>
                        </a:rPr>
                        <a:t>exposición</a:t>
                      </a:r>
                      <a:r>
                        <a:rPr lang="es">
                          <a:solidFill>
                            <a:srgbClr val="D9D9D9"/>
                          </a:solidFill>
                        </a:rPr>
                        <a:t> en red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Monitoreo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sin Fail2Ban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D9D9D9"/>
                          </a:solidFill>
                        </a:rPr>
                        <a:t>Vulnerable a fuerza bruta</a:t>
                      </a:r>
                      <a:endParaRPr>
                        <a:solidFill>
                          <a:srgbClr val="D9D9D9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68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Correcciones</a:t>
            </a:r>
            <a:r>
              <a:rPr lang="es"/>
              <a:t> aplicadas</a:t>
            </a:r>
            <a:endParaRPr/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3117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{7C8F2C47-D75D-40F8-B8BA-413799F37718}</a:tableStyleId>
              </a:tblPr>
              <a:tblGrid>
                <a:gridCol w="3529575"/>
                <a:gridCol w="4829925"/>
              </a:tblGrid>
              <a:tr h="5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Problema 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Solución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FTP </a:t>
                      </a:r>
                      <a:r>
                        <a:rPr lang="es">
                          <a:solidFill>
                            <a:srgbClr val="EFEFEF"/>
                          </a:solidFill>
                        </a:rPr>
                        <a:t>anónimo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anonymous_enable=NO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Root SSH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PermitRootLogin no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0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Permisos WordPress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chmod 755 /var/www/html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chmod 600 wp-config.php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Firewall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**UFW** activo (solo puertos 22 y 80)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Fuerza bruta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**Fail2Ban** instalado y configurado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Actualizaciones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rgbClr val="EFEFEF"/>
                          </a:solidFill>
                        </a:rPr>
                        <a:t>apt update &amp;&amp; apt upgrade</a:t>
                      </a:r>
                      <a:endParaRPr>
                        <a:solidFill>
                          <a:srgbClr val="EFEFE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567900" y="638700"/>
            <a:ext cx="312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actual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8474"/>
            <a:ext cx="4260300" cy="3575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388" y="1568475"/>
            <a:ext cx="4901125" cy="35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>
            <p:ph type="title"/>
          </p:nvPr>
        </p:nvSpPr>
        <p:spPr>
          <a:xfrm>
            <a:off x="5097963" y="694200"/>
            <a:ext cx="3222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Diagrama mejorado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670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Respuesta a Incidentes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63000" y="572700"/>
            <a:ext cx="8824800" cy="3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1</a:t>
            </a:r>
            <a:r>
              <a:rPr b="1" lang="es">
                <a:solidFill>
                  <a:schemeClr val="dk1"/>
                </a:solidFill>
              </a:rPr>
              <a:t>. Preparación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Equipo CSIRT definido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Herramientas forenses listas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2. Detección y Análisis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Monitoreo de logs (sudo, sshd)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Alertas de cambios críticos (chmod 777,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   instalación de servicios)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3. Contención, Erradicación, Recuperación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Bloquear IP atacante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Deshabilitar servicios inseguros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Restaurar configuraciones originales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</a:rPr>
              <a:t>4. Post-Incidente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  - Lecciones aprendidas</a:t>
            </a:r>
            <a:endParaRPr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- Actualizar políticas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38350" y="4372800"/>
            <a:ext cx="87780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Este plan se </a:t>
            </a:r>
            <a:r>
              <a:rPr lang="es" sz="1800">
                <a:solidFill>
                  <a:schemeClr val="dk1"/>
                </a:solidFill>
              </a:rPr>
              <a:t>activará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 sz="1800">
                <a:solidFill>
                  <a:schemeClr val="dk1"/>
                </a:solidFill>
              </a:rPr>
              <a:t>automáticamente</a:t>
            </a:r>
            <a:r>
              <a:rPr lang="es" sz="1800">
                <a:solidFill>
                  <a:schemeClr val="dk1"/>
                </a:solidFill>
              </a:rPr>
              <a:t> ante cualquier alerta de cambios </a:t>
            </a:r>
            <a:r>
              <a:rPr lang="es" sz="1800">
                <a:solidFill>
                  <a:schemeClr val="dk1"/>
                </a:solidFill>
              </a:rPr>
              <a:t>críticos</a:t>
            </a:r>
            <a:r>
              <a:rPr lang="es" sz="1800">
                <a:solidFill>
                  <a:schemeClr val="dk1"/>
                </a:solidFill>
              </a:rPr>
              <a:t>(</a:t>
            </a:r>
            <a:r>
              <a:rPr lang="es" sz="1800">
                <a:solidFill>
                  <a:schemeClr val="dk1"/>
                </a:solidFill>
              </a:rPr>
              <a:t>instalación</a:t>
            </a:r>
            <a:r>
              <a:rPr lang="es" sz="1800">
                <a:solidFill>
                  <a:schemeClr val="dk1"/>
                </a:solidFill>
              </a:rPr>
              <a:t> de servicios, </a:t>
            </a:r>
            <a:r>
              <a:rPr lang="es" sz="1800">
                <a:solidFill>
                  <a:schemeClr val="dk1"/>
                </a:solidFill>
              </a:rPr>
              <a:t>chmod 777</a:t>
            </a:r>
            <a:r>
              <a:rPr lang="es" sz="1800">
                <a:solidFill>
                  <a:schemeClr val="dk1"/>
                </a:solidFill>
              </a:rPr>
              <a:t>, etc…)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925" y="706726"/>
            <a:ext cx="4969075" cy="298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1138825" y="554125"/>
            <a:ext cx="41160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120"/>
              <a:t>SGSI (ISO 27001)</a:t>
            </a:r>
            <a:endParaRPr sz="3120"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0" y="1404950"/>
            <a:ext cx="4331700" cy="24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s" sz="1589">
                <a:solidFill>
                  <a:schemeClr val="dk1"/>
                </a:solidFill>
              </a:rPr>
              <a:t>Sistema de Gestión de Seguridad (ISO 27001)</a:t>
            </a:r>
            <a:endParaRPr sz="15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s" sz="1589">
                <a:solidFill>
                  <a:schemeClr val="dk1"/>
                </a:solidFill>
              </a:rPr>
              <a:t>Activos críticos protegidos:</a:t>
            </a:r>
            <a:endParaRPr sz="15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589">
                <a:solidFill>
                  <a:schemeClr val="dk1"/>
                </a:solidFill>
              </a:rPr>
              <a:t>- Servidor Debian</a:t>
            </a:r>
            <a:endParaRPr sz="15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589">
                <a:solidFill>
                  <a:schemeClr val="dk1"/>
                </a:solidFill>
              </a:rPr>
              <a:t>- WordPress y base de datos</a:t>
            </a:r>
            <a:endParaRPr sz="15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589">
                <a:solidFill>
                  <a:schemeClr val="dk1"/>
                </a:solidFill>
              </a:rPr>
              <a:t>- Credenciales de acceso</a:t>
            </a:r>
            <a:endParaRPr sz="15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s" sz="1589">
                <a:solidFill>
                  <a:schemeClr val="dk1"/>
                </a:solidFill>
              </a:rPr>
              <a:t>- Logs del sistema</a:t>
            </a:r>
            <a:endParaRPr sz="15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89">
              <a:solidFill>
                <a:schemeClr val="dk1"/>
              </a:solidFill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4331700" y="1438550"/>
            <a:ext cx="44628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b="1" lang="es" sz="1689">
                <a:solidFill>
                  <a:schemeClr val="dk1"/>
                </a:solidFill>
              </a:rPr>
              <a:t>Políticas implementadas:</a:t>
            </a:r>
            <a:endParaRPr sz="17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" sz="1689">
                <a:solidFill>
                  <a:schemeClr val="dk1"/>
                </a:solidFill>
              </a:rPr>
              <a:t>- Control de accesos (mínimo privilegio)</a:t>
            </a:r>
            <a:endParaRPr sz="16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" sz="1689">
                <a:solidFill>
                  <a:schemeClr val="dk1"/>
                </a:solidFill>
              </a:rPr>
              <a:t>- Contraseñas seguras (12+ caracteres)</a:t>
            </a:r>
            <a:endParaRPr sz="16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" sz="1689">
                <a:solidFill>
                  <a:schemeClr val="dk1"/>
                </a:solidFill>
              </a:rPr>
              <a:t>- Actualizaciones periódicas</a:t>
            </a:r>
            <a:endParaRPr sz="16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" sz="1689">
                <a:solidFill>
                  <a:schemeClr val="dk1"/>
                </a:solidFill>
              </a:rPr>
              <a:t>- Auditorías trimestrales</a:t>
            </a:r>
            <a:endParaRPr sz="168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s" sz="1689">
                <a:solidFill>
                  <a:schemeClr val="dk1"/>
                </a:solidFill>
              </a:rPr>
              <a:t>- Backups diarios externos</a:t>
            </a:r>
            <a:endParaRPr sz="2200">
              <a:solidFill>
                <a:schemeClr val="lt2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87450" y="4002600"/>
            <a:ext cx="83457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SGSI garantiza que estos controles se mantengan en el tiempo y se mejoren continuamente (ciclo PDCA)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9421" y="-11"/>
            <a:ext cx="2844580" cy="1486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Resultado y conclusiones</a:t>
            </a:r>
            <a:endParaRPr/>
          </a:p>
        </p:txBody>
      </p:sp>
      <p:graphicFrame>
        <p:nvGraphicFramePr>
          <p:cNvPr id="125" name="Google Shape;125;p22"/>
          <p:cNvGraphicFramePr/>
          <p:nvPr/>
        </p:nvGraphicFramePr>
        <p:xfrm>
          <a:off x="311700" y="11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{7C8F2C47-D75D-40F8-B8BA-413799F37718}</a:tableStyleId>
              </a:tblPr>
              <a:tblGrid>
                <a:gridCol w="3306250"/>
                <a:gridCol w="3268750"/>
              </a:tblGrid>
              <a:tr h="3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Antes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Después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FTP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anónimo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Deshabilitado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SSH root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Bloqueado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Permisos 777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755 / 600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Sin firewall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UFW Activo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3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Sin 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protección</a:t>
                      </a:r>
                      <a:r>
                        <a:rPr lang="es">
                          <a:solidFill>
                            <a:schemeClr val="dk1"/>
                          </a:solidFill>
                        </a:rPr>
                        <a:t> SSH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</a:rPr>
                        <a:t>Fail2Ban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6" name="Google Shape;126;p22"/>
          <p:cNvSpPr txBox="1"/>
          <p:nvPr/>
        </p:nvSpPr>
        <p:spPr>
          <a:xfrm>
            <a:off x="311700" y="3826475"/>
            <a:ext cx="7760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Objetivo cumplido</a:t>
            </a:r>
            <a:r>
              <a:rPr lang="es" sz="1800">
                <a:solidFill>
                  <a:schemeClr val="dk1"/>
                </a:solidFill>
              </a:rPr>
              <a:t>: Sistema hardening, incidente documentado, plan de respuesta implementado y SGSI alineado con ISO 27001.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1150800"/>
            <a:ext cx="85206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200"/>
              <a:t>GRACIAS POR VUESTRA ATENCIÓN</a:t>
            </a:r>
            <a:endParaRPr sz="6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